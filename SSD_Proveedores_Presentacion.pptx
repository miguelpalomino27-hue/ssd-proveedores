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Precio unitario</c:v>
                  </c:pt>
                  <c:pt idx="1">
                    <c:v>Reputación</c:v>
                  </c:pt>
                  <c:pt idx="2">
                    <c:v>Calidad certificada</c:v>
                  </c:pt>
                  <c:pt idx="3">
                    <c:v>Garantía</c:v>
                  </c:pt>
                  <c:pt idx="4">
                    <c:v>Plazo de entrega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41.9</c:v>
                </c:pt>
                <c:pt idx="1">
                  <c:v>25</c:v>
                </c:pt>
                <c:pt idx="2">
                  <c:v>16.3</c:v>
                </c:pt>
                <c:pt idx="3">
                  <c:v>10</c:v>
                </c:pt>
                <c:pt idx="4">
                  <c:v>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CC*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8A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8A4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Aceros y Fierros del Sur</c:v>
                  </c:pt>
                  <c:pt idx="1">
                    <c:v>Distribuidora Huamanga</c:v>
                  </c:pt>
                  <c:pt idx="2">
                    <c:v>Ferretería San Cristóbal</c:v>
                  </c:pt>
                  <c:pt idx="3">
                    <c:v>Corporación Wari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0.3476</c:v>
                </c:pt>
                <c:pt idx="1">
                  <c:v>0.5278</c:v>
                </c:pt>
                <c:pt idx="2">
                  <c:v>0.5972</c:v>
                </c:pt>
                <c:pt idx="3">
                  <c:v>0.6479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</c:scaling>
        <c:delete val="0"/>
        <c:axPos val="b"/>
        <c:majorGridlines>
          <c:spPr>
            <a:ln w="12700" cap="flat">
              <a:solidFill>
                <a:srgbClr val="E5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IS-489 · PRUEBAS Y ASEGURAMIENTO DE LA CALIDAD DEL SOFTWARE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Soporte de Decisiones (SSD)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proveedores de materiales de construcción mediante AHP + TOPSIS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Mateo [Apellido]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Lizbeth Jaico Quispe   ·   Ayacucho, Perú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decisiones de compra no estructuradas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empresas constructoras de Ayacucho, la selección de proveedores suele basarse solo en el precio más bajo, sin ponderar calidad, plazos o garantía de forma objetiva.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137160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no trazables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52360" y="1783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pueden auditar ni justificar objetivamente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23760" y="260604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2679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 entre obras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3017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responsable aplica criterios distintos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384048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3913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Sobrecostos ocultos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4251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baratos pero con incumplimientos y retrabajos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propuesta: formalizar la decisión con métodos multicriterio (AHP + TOPSIS), sin eliminar el juicio experto del analista.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de Soporte de Decisiones basado en AHP y TOPSIS que formalice la selección de proveedores, aplicando un ciclo de vida de software completo con énfasis en el aseguramiento de la calidad.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7706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61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AHP con validación de consistencia (CR ≤ 0.10)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27706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761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TOPSIS para ranking objetivo de proveedores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47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interfaz web funcional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4564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447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pruebas unitarias del motor de decisión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330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pruebas de integración end-to-end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41422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1330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4069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Contenerización y despliegue documentado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1 — AHP: ponderar los criterios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Hierarchy Process (Saaty, 1980)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analista compara criterios de dos en dos usando la escala de Saaty (1 a 9). El sistema deriva los pesos y calcula la Razón de Consistencia (CR).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 ≤ 0.10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aceptación de Saaty. Si se supera, el sistema rechaza la matriz y pide revisar los juicios.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matriz de comparación por pares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65960"/>
          <a:ext cx="5212080" cy="164592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0" y="3840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resultantes: Precio 63.9% · Calidad 26.0% · Plazo 10.1%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2 — TOPSIS: ordenar a los proveedores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for Order Preference by Similarity to Ideal Solution (Hwang &amp; Yoon, 1981)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decisión (valores de cada proveedor por criterio)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pesos obtenidos en AHP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distancias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15468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solución ideal positiva (mejor caso) y negativa (peor caso)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9202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2697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CC*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315468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cercanía entre 0 y 1 → determina el ranking final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CC* cercano a 1 = más cerca del proveedor ideal (mejor calidad, mejor precio, mejor plazo, etc. según los pesos definidos)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Scrum en 5 sprints incrementales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MySQL (4 tablas)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70048" y="2971800"/>
            <a:ext cx="256032" cy="320040"/>
          </a:xfrm>
          <a:prstGeom prst="rightArrow">
            <a:avLst/>
          </a:prstGeom>
          <a:solidFill>
            <a:srgbClr val="C9D3D9"/>
          </a:solidFill>
          <a:ln/>
        </p:spPr>
      </p:sp>
      <p:sp>
        <p:nvSpPr>
          <p:cNvPr id="8" name="Shape 6"/>
          <p:cNvSpPr/>
          <p:nvPr/>
        </p:nvSpPr>
        <p:spPr>
          <a:xfrm>
            <a:off x="2944368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081528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81528" y="2286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AHP-TOPSIS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81528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pruebas unitarias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65776" y="2971800"/>
            <a:ext cx="256032" cy="320040"/>
          </a:xfrm>
          <a:prstGeom prst="rightArrow">
            <a:avLst/>
          </a:prstGeom>
          <a:solidFill>
            <a:srgbClr val="C9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5340096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77256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77256" y="2286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77256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pruebas de integración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61504" y="2971800"/>
            <a:ext cx="256032" cy="320040"/>
          </a:xfrm>
          <a:prstGeom prst="rightArrow">
            <a:avLst/>
          </a:prstGeom>
          <a:solidFill>
            <a:srgbClr val="C9D3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735824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872984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72984" y="2286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72984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producción sin errores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57232" y="2971800"/>
            <a:ext cx="256032" cy="320040"/>
          </a:xfrm>
          <a:prstGeom prst="rightArrow">
            <a:avLst/>
          </a:prstGeom>
          <a:solidFill>
            <a:srgbClr val="C9D3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31552" y="1737360"/>
            <a:ext cx="2103120" cy="283464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10268712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68712" y="2286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68712" y="34290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CI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cierra con: implementación → pruebas automatizadas → corrección de defectos → commit documentado.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 (3 capas)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82112" y="2926080"/>
            <a:ext cx="274320" cy="365760"/>
          </a:xfrm>
          <a:prstGeom prst="rightArrow">
            <a:avLst/>
          </a:prstGeom>
          <a:solidFill>
            <a:srgbClr val="C9D3D9"/>
          </a:solidFill>
          <a:ln/>
        </p:spPr>
      </p:sp>
      <p:sp>
        <p:nvSpPr>
          <p:cNvPr id="7" name="Shape 5"/>
          <p:cNvSpPr/>
          <p:nvPr/>
        </p:nvSpPr>
        <p:spPr>
          <a:xfrm>
            <a:off x="3465576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602736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02736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(puerto 8080, Nginx)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99048" y="2926080"/>
            <a:ext cx="274320" cy="365760"/>
          </a:xfrm>
          <a:prstGeom prst="rightArrow">
            <a:avLst/>
          </a:prstGeom>
          <a:solidFill>
            <a:srgbClr val="C9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6382512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19672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ahp.js / topsis.js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(puerto 4000)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15984" y="2926080"/>
            <a:ext cx="274320" cy="365760"/>
          </a:xfrm>
          <a:prstGeom prst="rightArrow">
            <a:avLst/>
          </a:prstGeom>
          <a:solidFill>
            <a:srgbClr val="C9D3D9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9448" y="21031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9436608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436608" y="27432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(puerto 3306)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vía HTTP/JSON autenticada con JSON Web Token (JWT). Contenerizado con Docker Compose (3 servicios).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Aseguramiento de calidad: 32 pruebas automatizadas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AHP + TOPSIS (aisladas, sin BD)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4630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48056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5420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completa contra MySQL real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4630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22960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5420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corregir 3 defectos reales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reales encontrados y corregidos durante el desarrollo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conexiones MySQL cerrado prematuramente entre bloques de prueba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43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deserialización de columnas JSON ya parseadas automáticamente por el driver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5546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00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numérica de reciprocidad AHP demasiado estricta para decimales redondeados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aplicación: pesos de criterios (AHP)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real ejecutada vía API — 5 criterios, CR = 0.0193 (matriz consistente)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aplicación: ranking final de proveedores (TOPSIS)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cercanía (CC*) — mayor valor = más cercano al proveedor ideal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3736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Corporación Wari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21040" y="23317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calidad (9/10), mejor plazo (3 días) y mejor garantía (24 meses), pese a no ser la opción más barata.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321040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clave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0" y="42062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multicriterio favoreció calidad y confiabilidad sobre el precio más bajo, evidenciando su valor frente a la práctica habitual.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Despliegue: Docker Compose + Integración Continua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642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6642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servicios: frontend (Nginx), backend (Node.js), base de datos (MySQL 8.0)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072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8072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levanta todo el stack de forma reproducible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502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39502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ejecuta las 32 pruebas en cada push/PR, con MySQL efímero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0932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50932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con historial de commits estructurado por sprint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Proveedores – IS-489 – UNSCH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9344"/>
            <a:ext cx="146304" cy="14630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SSD formaliza y objetiva la selección de proveedores mediante AHP + TOPSIS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AHP valida automáticamente la consistencia del juicio del analista (CR ≤ 0.10)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163824"/>
            <a:ext cx="146304" cy="14630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632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32/32 pruebas automatizadas (100%) verifican la corrección del motor de decisión y de la API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41064"/>
            <a:ext cx="146304" cy="14630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40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y corrigieron 3 defectos reales durante el desarrollo, documentados como evidencia de QA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18304"/>
            <a:ext cx="146304" cy="14630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17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aplicación demostró que el método puede favorecer calidad y confiabilidad sobre el precio más bajo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2026-07-10T04:58:46Z</dcterms:created>
  <dcterms:modified xsi:type="dcterms:W3CDTF">2026-07-10T04:58:46Z</dcterms:modified>
</cp:coreProperties>
</file>